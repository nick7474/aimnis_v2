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AIMNIS 1차 POC 범위 및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구현·검수 정의서 공유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30352" y="141732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1501811"/>
            <a:ext cx="1325880" cy="563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대표님·상무님 보고용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30352" y="18745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완성형 제품 개발이 아니라, 발전소 폐쇄망에서 사내 AI가 위젯을 만들고 데이터를 연결하는 핵심 가능성 검증입니다.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76656" y="2697480"/>
            <a:ext cx="1261872" cy="585216"/>
          </a:xfrm>
          <a:prstGeom prst="roundRect">
            <a:avLst>
              <a:gd name="adj" fmla="val 6250"/>
            </a:avLst>
          </a:prstGeom>
          <a:solidFill>
            <a:srgbClr val="E9FBF8"/>
          </a:solidFill>
          <a:ln w="15240">
            <a:solidFill>
              <a:srgbClr val="14C8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8346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PGX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 4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1984248" y="2990088"/>
            <a:ext cx="155448" cy="0"/>
          </a:xfrm>
          <a:prstGeom prst="line">
            <a:avLst/>
          </a:prstGeom>
          <a:noFill/>
          <a:ln w="12700">
            <a:solidFill>
              <a:srgbClr val="8EA0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2697480"/>
            <a:ext cx="1261872" cy="585216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28346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 Board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입력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502152" y="2990088"/>
            <a:ext cx="155448" cy="0"/>
          </a:xfrm>
          <a:prstGeom prst="line">
            <a:avLst/>
          </a:prstGeom>
          <a:noFill/>
          <a:ln w="12700">
            <a:solidFill>
              <a:srgbClr val="8EA0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12464" y="2697480"/>
            <a:ext cx="1261872" cy="585216"/>
          </a:xfrm>
          <a:prstGeom prst="roundRect">
            <a:avLst>
              <a:gd name="adj" fmla="val 6250"/>
            </a:avLst>
          </a:prstGeom>
          <a:solidFill>
            <a:srgbClr val="E9FBF8"/>
          </a:solidFill>
          <a:ln w="15240">
            <a:solidFill>
              <a:srgbClr val="14C8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28346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위젯 4~6개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생성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020056" y="2990088"/>
            <a:ext cx="155448" cy="0"/>
          </a:xfrm>
          <a:prstGeom prst="line">
            <a:avLst/>
          </a:prstGeom>
          <a:noFill/>
          <a:ln w="12700">
            <a:solidFill>
              <a:srgbClr val="8EA0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30368" y="2697480"/>
            <a:ext cx="1261872" cy="585216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8346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데이터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바인딩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537960" y="2990088"/>
            <a:ext cx="155448" cy="0"/>
          </a:xfrm>
          <a:prstGeom prst="line">
            <a:avLst/>
          </a:prstGeom>
          <a:noFill/>
          <a:ln w="12700">
            <a:solidFill>
              <a:srgbClr val="8EA0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48272" y="2697480"/>
            <a:ext cx="1261872" cy="585216"/>
          </a:xfrm>
          <a:prstGeom prst="roundRect">
            <a:avLst>
              <a:gd name="adj" fmla="val 6250"/>
            </a:avLst>
          </a:prstGeom>
          <a:solidFill>
            <a:srgbClr val="E9FBF8"/>
          </a:solidFill>
          <a:ln w="15240">
            <a:solidFill>
              <a:srgbClr val="14C8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28346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저장·복원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549640" y="502920"/>
            <a:ext cx="3017520" cy="3154680"/>
          </a:xfrm>
          <a:prstGeom prst="roundRect">
            <a:avLst>
              <a:gd name="adj" fmla="val 909"/>
            </a:avLst>
          </a:prstGeom>
          <a:solidFill>
            <a:srgbClr val="0E2345"/>
          </a:solidFill>
          <a:ln w="10160">
            <a:solidFill>
              <a:srgbClr val="0E23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96528" y="7132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의사결정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05672" y="1078992"/>
            <a:ext cx="2505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서버는 Lenovo ThinkStation PGX 후보로 검증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Gemma 4 온프레미스 추론 / 외부 LLM 미사용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AIM Monitoring · 에너지 시설 통합 관제 1종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채팅은 운영 분석이 아닌 위젯 제작용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위젯 제작·검수 대상은 10종으로 고정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8805672" y="2788920"/>
            <a:ext cx="2505456" cy="566928"/>
          </a:xfrm>
          <a:prstGeom prst="roundRect">
            <a:avLst>
              <a:gd name="adj" fmla="val 4839"/>
            </a:avLst>
          </a:prstGeom>
          <a:solidFill>
            <a:srgbClr val="172B53"/>
          </a:solidFill>
          <a:ln w="10160">
            <a:solidFill>
              <a:srgbClr val="172B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15984" y="2999232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C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생성은 10종 중 4~6개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0352" y="4160520"/>
            <a:ext cx="11045952" cy="10058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416552"/>
            <a:ext cx="960120" cy="274320"/>
          </a:xfrm>
          <a:prstGeom prst="rect">
            <a:avLst/>
          </a:prstGeom>
          <a:solidFill>
            <a:srgbClr val="0E2345"/>
          </a:solidFill>
          <a:ln w="12700">
            <a:solidFill>
              <a:srgbClr val="0E23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498848"/>
            <a:ext cx="86868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기준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38528" y="445312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 Board → Gemma 4 → 위젯 4~6개 생성 → 내부 데이터 바인딩 → 서버 DB 저장·복원 → 읽기 전용 결과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38528" y="4773168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흐름이 외부 인터넷 차단 상태에서 개발자 조작 없이 3회 연속 동작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530352" y="5532120"/>
            <a:ext cx="11045952" cy="658368"/>
          </a:xfrm>
          <a:prstGeom prst="roundRect">
            <a:avLst>
              <a:gd name="adj" fmla="val 2778"/>
            </a:avLst>
          </a:prstGeom>
          <a:solidFill>
            <a:srgbClr val="EFF6FF"/>
          </a:solidFill>
          <a:ln w="10160">
            <a:solidFill>
              <a:srgbClr val="D6E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75157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POC 범위 원칙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057400" y="5751576"/>
            <a:ext cx="9052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기능을 한 번에 완성하는 것이 아니라, 발전소 내부망에서 “자체 AI가 위젯을 만들고 데이터를 연결한다”는 핵심 기술을 먼저 검증합니다.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530352" y="656539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8EA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AIMNIS 1차 POC 범위 공유  |  1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5961888" y="656539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범위를 고정하는가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데모 화면 완성도와 별개로, POC는 발전소 적용 전 “실제 동작하는 핵심 기술”을 증명해야 합니다.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442448" y="393192"/>
            <a:ext cx="1234440" cy="237744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44805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AIMNIS POC</a:t>
            </a:r>
            <a:endParaRPr lang="en-US" sz="640" dirty="0"/>
          </a:p>
        </p:txBody>
      </p:sp>
      <p:sp>
        <p:nvSpPr>
          <p:cNvPr id="6" name="Text 4"/>
          <p:cNvSpPr/>
          <p:nvPr/>
        </p:nvSpPr>
        <p:spPr>
          <a:xfrm>
            <a:off x="530352" y="656539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8EA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AIMNIS 1차 POC 범위 공유  |  2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5961888" y="656539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417320"/>
            <a:ext cx="2697480" cy="347472"/>
          </a:xfrm>
          <a:prstGeom prst="rect">
            <a:avLst/>
          </a:prstGeom>
          <a:solidFill>
            <a:srgbClr val="0E2345"/>
          </a:solidFill>
          <a:ln w="12700">
            <a:solidFill>
              <a:srgbClr val="0E23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521562"/>
            <a:ext cx="260604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데모 상태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0352" y="1828800"/>
            <a:ext cx="269748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75688"/>
            <a:ext cx="22951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외부 Claude·Gemini 호출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프로젝트·위젯은 localStorage 중심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데이터 매핑 UI는 있으나 실제 fetch 없음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Spec 결과가 위젯 구성으로 미연결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20종 위젯 라이브러리·기본 대시보드 존재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690872" y="1417320"/>
            <a:ext cx="269748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521562"/>
            <a:ext cx="260604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POC에서 증명할 것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90872" y="1828800"/>
            <a:ext cx="269748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075688"/>
            <a:ext cx="22951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ThinkStation PGX에서 Gemma 4 구동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외부 LLM 없이 내부 추론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Spec → 위젯 구성 4~6개 자동 반영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내부 더미 데이터 API를 위젯에 실제 바인딩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서버 DB 저장·다른 세션 복원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851392" y="1417320"/>
            <a:ext cx="2697480" cy="347472"/>
          </a:xfrm>
          <a:prstGeom prst="rect">
            <a:avLst/>
          </a:prstGeom>
          <a:solidFill>
            <a:srgbClr val="16A85B"/>
          </a:solidFill>
          <a:ln w="12700">
            <a:solidFill>
              <a:srgbClr val="16A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97112" y="1521562"/>
            <a:ext cx="2606040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개발자에게 전달한 기준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851392" y="1828800"/>
            <a:ext cx="269748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075688"/>
            <a:ext cx="22951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구현 계약서 v1.0으로 범위 고정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위젯 제작 채팅만 지원, 운영 분석 제외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Gemma 제작 대상 10종 / 직접 드래그 20종 유지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DataSource·DataBinding·AiAction 저장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폐쇄망 E2E 3회 연속 검수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447288" y="2788920"/>
            <a:ext cx="804672" cy="0"/>
          </a:xfrm>
          <a:prstGeom prst="line">
            <a:avLst/>
          </a:prstGeom>
          <a:noFill/>
          <a:ln w="12700">
            <a:solidFill>
              <a:srgbClr val="172B5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07808" y="2788920"/>
            <a:ext cx="804672" cy="0"/>
          </a:xfrm>
          <a:prstGeom prst="line">
            <a:avLst/>
          </a:prstGeom>
          <a:noFill/>
          <a:ln w="12700">
            <a:solidFill>
              <a:srgbClr val="172B5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" y="4800600"/>
            <a:ext cx="11045952" cy="804672"/>
          </a:xfrm>
          <a:prstGeom prst="roundRect">
            <a:avLst>
              <a:gd name="adj" fmla="val 2273"/>
            </a:avLst>
          </a:prstGeom>
          <a:solidFill>
            <a:srgbClr val="EAF3FF"/>
          </a:solidFill>
          <a:ln w="10160">
            <a:solidFill>
              <a:srgbClr val="D8E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04748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범위 설정 원칙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240280" y="5047488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대시보드와 20종 라이브러리는 유지하되, AI가 실제 생성·수정·바인딩하는 대상은 10종으로 제한합니다.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2240280" y="5321808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기준으로 개발자가 “보이는 기능 전체”를 구현 대상으로 오해하지 않도록 범위를 분리했습니다.</a:t>
            </a:r>
            <a:endParaRPr lang="en-US" sz="8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POC 구현 범위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개발자가 추측하지 않도록 실제 구현·유지·화면 모의·제외 범위를 명확히 구분합니다.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442448" y="393192"/>
            <a:ext cx="1234440" cy="237744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44805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AIMNIS POC</a:t>
            </a:r>
            <a:endParaRPr lang="en-US" sz="640" dirty="0"/>
          </a:p>
        </p:txBody>
      </p:sp>
      <p:sp>
        <p:nvSpPr>
          <p:cNvPr id="6" name="Text 4"/>
          <p:cNvSpPr/>
          <p:nvPr/>
        </p:nvSpPr>
        <p:spPr>
          <a:xfrm>
            <a:off x="530352" y="656539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8EA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AIMNIS 1차 POC 범위 공유  |  3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5961888" y="656539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078992"/>
            <a:ext cx="1104595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344168"/>
            <a:ext cx="960120" cy="256032"/>
          </a:xfrm>
          <a:prstGeom prst="rect">
            <a:avLst/>
          </a:prstGeom>
          <a:solidFill>
            <a:srgbClr val="0E2345"/>
          </a:solidFill>
          <a:ln w="12700">
            <a:solidFill>
              <a:srgbClr val="0E23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420978"/>
            <a:ext cx="8686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위젯 범위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74520" y="1280160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대시보드 유지  +  20종 드래그 앤 드롭 라이브러리 유지  +  Gemma 4 제작·검수 대상 10종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874520" y="1581912"/>
            <a:ext cx="8869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 Board 최초 생성은 10종 중 4~6개를 통합 대시보드에 자동 배치하고, 이후 AI 채팅 또는 에디터로 추가·수정합니다.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530352" y="2395728"/>
            <a:ext cx="2743200" cy="310896"/>
          </a:xfrm>
          <a:prstGeom prst="rect">
            <a:avLst/>
          </a:prstGeom>
          <a:solidFill>
            <a:srgbClr val="0E2345"/>
          </a:solidFill>
          <a:ln w="12700">
            <a:solidFill>
              <a:srgbClr val="0E23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488997"/>
            <a:ext cx="2651760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구현 핵심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0352" y="2779776"/>
            <a:ext cx="2743200" cy="1856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008376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ThinkStation PGX + Gemma 4 내부 추론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Spec Board → 초기 위젯 4~6개 생성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위젯 제작 채팅: 10종 생성·수정·삭제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내부 더미 DB/API 3종 바인딩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서버 DB 저장·재접속 복원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3474720" y="2395728"/>
            <a:ext cx="274320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488997"/>
            <a:ext cx="2651760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간소·유지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0" y="2779776"/>
            <a:ext cx="2743200" cy="1856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9312" y="3008376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대시보드 템플릿 유지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20종 위젯 라이브러리 D&amp;D 유지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로그인은 데모 수준 유지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DataTableWidget은 경량 신규 구현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3~5초 주기 조회 또는 수동 갱신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6419088" y="2395728"/>
            <a:ext cx="2743200" cy="310896"/>
          </a:xfrm>
          <a:prstGeom prst="rect">
            <a:avLst/>
          </a:prstGeom>
          <a:solidFill>
            <a:srgbClr val="16A85B"/>
          </a:solidFill>
          <a:ln w="12700">
            <a:solidFill>
              <a:srgbClr val="16A8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2488997"/>
            <a:ext cx="2651760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모의 유지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19088" y="2779776"/>
            <a:ext cx="2743200" cy="1856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008376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브랜드·메뉴 상세 설정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노드형 데이터 매핑의 복잡 편집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환경/안전/리포트 페이지 일부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파일 업로드 분석 연출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GUARD·ECO 등 카드 노출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9363456" y="2395728"/>
            <a:ext cx="274320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9176" y="2488997"/>
            <a:ext cx="2651760" cy="7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POC 제외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363456" y="2779776"/>
            <a:ext cx="2743200" cy="1856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28048" y="3008376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실제 발전소 데이터·MQTT 전체 연동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운영 분석 채팅/원인 분석/예측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전체 20종 AI 지원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권한·협업·버전·배포 이력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PDF·Excel·완성형 리포트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530352" y="5074920"/>
            <a:ext cx="11045952" cy="594360"/>
          </a:xfrm>
          <a:prstGeom prst="roundRect">
            <a:avLst>
              <a:gd name="adj" fmla="val 3077"/>
            </a:avLst>
          </a:prstGeom>
          <a:solidFill>
            <a:srgbClr val="E9FBF8"/>
          </a:solidFill>
          <a:ln w="10160">
            <a:solidFill>
              <a:srgbClr val="BEEF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528523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6A8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확정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1600200" y="5285232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채팅은 “모니터링 운영 질의응답”이 아니라, 위젯을 생성·수정·삭제하고 데이터 필드를 연결하는 제작 어시스턴트입니다.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시나리오: Spec Board → Gemma 4 → 위젯·데이터 바인딩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요구를 구조화하고, 내부 데이터 API와 연결한 뒤 서버 DB에 저장·복원합니다.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442448" y="393192"/>
            <a:ext cx="1234440" cy="237744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44805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AIMNIS POC</a:t>
            </a:r>
            <a:endParaRPr lang="en-US" sz="640" dirty="0"/>
          </a:p>
        </p:txBody>
      </p:sp>
      <p:sp>
        <p:nvSpPr>
          <p:cNvPr id="6" name="Text 4"/>
          <p:cNvSpPr/>
          <p:nvPr/>
        </p:nvSpPr>
        <p:spPr>
          <a:xfrm>
            <a:off x="530352" y="656539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8EA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AIMNIS 1차 POC 범위 공유  |  4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5961888" y="656539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234440"/>
            <a:ext cx="11018520" cy="8229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53896"/>
            <a:ext cx="14173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30706"/>
            <a:ext cx="13258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사용자·프론트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0352" y="2423160"/>
            <a:ext cx="11018520" cy="8229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642616"/>
            <a:ext cx="1417320" cy="256032"/>
          </a:xfrm>
          <a:prstGeom prst="rect">
            <a:avLst/>
          </a:prstGeom>
          <a:solidFill>
            <a:srgbClr val="0E2345"/>
          </a:solidFill>
          <a:ln w="12700">
            <a:solidFill>
              <a:srgbClr val="0E23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19426"/>
            <a:ext cx="13258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AIMNIS 백엔드·서버 DB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0352" y="3611880"/>
            <a:ext cx="11018520" cy="8229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31336"/>
            <a:ext cx="1417320" cy="256032"/>
          </a:xfrm>
          <a:prstGeom prst="rect">
            <a:avLst/>
          </a:prstGeom>
          <a:solidFill>
            <a:srgbClr val="16A85B"/>
          </a:solidFill>
          <a:ln w="12700">
            <a:solidFill>
              <a:srgbClr val="16A8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08146"/>
            <a:ext cx="13258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ThinkStation PGX · 내부 데이터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331720" y="1389888"/>
            <a:ext cx="1234440" cy="512064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14721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 입력</a:t>
            </a:r>
            <a:endParaRPr lang="en-US" sz="690" dirty="0"/>
          </a:p>
        </p:txBody>
      </p:sp>
      <p:sp>
        <p:nvSpPr>
          <p:cNvPr id="19" name="Text 17"/>
          <p:cNvSpPr/>
          <p:nvPr/>
        </p:nvSpPr>
        <p:spPr>
          <a:xfrm>
            <a:off x="2404872" y="1673352"/>
            <a:ext cx="10881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시나리오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5623560" y="1389888"/>
            <a:ext cx="1234440" cy="512064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96712" y="14721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에디터 확인</a:t>
            </a:r>
            <a:endParaRPr lang="en-US" sz="690" dirty="0"/>
          </a:p>
        </p:txBody>
      </p:sp>
      <p:sp>
        <p:nvSpPr>
          <p:cNvPr id="22" name="Text 20"/>
          <p:cNvSpPr/>
          <p:nvPr/>
        </p:nvSpPr>
        <p:spPr>
          <a:xfrm>
            <a:off x="5696712" y="1673352"/>
            <a:ext cx="10881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위젯 반영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7269480" y="1389888"/>
            <a:ext cx="1234440" cy="512064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42632" y="14721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수정</a:t>
            </a:r>
            <a:endParaRPr lang="en-US" sz="690" dirty="0"/>
          </a:p>
        </p:txBody>
      </p:sp>
      <p:sp>
        <p:nvSpPr>
          <p:cNvPr id="25" name="Text 23"/>
          <p:cNvSpPr/>
          <p:nvPr/>
        </p:nvSpPr>
        <p:spPr>
          <a:xfrm>
            <a:off x="7342632" y="1673352"/>
            <a:ext cx="10881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위젯 추가·수정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10104120" y="1389888"/>
            <a:ext cx="1234440" cy="512064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77272" y="147218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화면</a:t>
            </a:r>
            <a:endParaRPr lang="en-US" sz="690" dirty="0"/>
          </a:p>
        </p:txBody>
      </p:sp>
      <p:sp>
        <p:nvSpPr>
          <p:cNvPr id="28" name="Text 26"/>
          <p:cNvSpPr/>
          <p:nvPr/>
        </p:nvSpPr>
        <p:spPr>
          <a:xfrm>
            <a:off x="10177272" y="1673352"/>
            <a:ext cx="10881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불가 확인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3977640" y="2578608"/>
            <a:ext cx="1234440" cy="512064"/>
          </a:xfrm>
          <a:prstGeom prst="roundRect">
            <a:avLst>
              <a:gd name="adj" fmla="val 6250"/>
            </a:avLst>
          </a:prstGeom>
          <a:solidFill>
            <a:srgbClr val="F2F6FB"/>
          </a:solidFill>
          <a:ln w="12700">
            <a:solidFill>
              <a:srgbClr val="0E23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50792" y="266090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검증</a:t>
            </a:r>
            <a:endParaRPr lang="en-US" sz="690" dirty="0"/>
          </a:p>
        </p:txBody>
      </p:sp>
      <p:sp>
        <p:nvSpPr>
          <p:cNvPr id="31" name="Text 29"/>
          <p:cNvSpPr/>
          <p:nvPr/>
        </p:nvSpPr>
        <p:spPr>
          <a:xfrm>
            <a:off x="4050792" y="2862072"/>
            <a:ext cx="10881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spec+필드 전달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5623560" y="2578608"/>
            <a:ext cx="1234440" cy="512064"/>
          </a:xfrm>
          <a:prstGeom prst="roundRect">
            <a:avLst>
              <a:gd name="adj" fmla="val 6250"/>
            </a:avLst>
          </a:prstGeom>
          <a:solidFill>
            <a:srgbClr val="F2F6FB"/>
          </a:solidFill>
          <a:ln w="12700">
            <a:solidFill>
              <a:srgbClr val="0E23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96712" y="266090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검증</a:t>
            </a:r>
            <a:endParaRPr lang="en-US" sz="690" dirty="0"/>
          </a:p>
        </p:txBody>
      </p:sp>
      <p:sp>
        <p:nvSpPr>
          <p:cNvPr id="34" name="Text 32"/>
          <p:cNvSpPr/>
          <p:nvPr/>
        </p:nvSpPr>
        <p:spPr>
          <a:xfrm>
            <a:off x="5696712" y="2862072"/>
            <a:ext cx="10881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10종/필드 체크</a:t>
            </a:r>
            <a:endParaRPr lang="en-US" sz="580" dirty="0"/>
          </a:p>
        </p:txBody>
      </p:sp>
      <p:sp>
        <p:nvSpPr>
          <p:cNvPr id="35" name="Shape 33"/>
          <p:cNvSpPr/>
          <p:nvPr/>
        </p:nvSpPr>
        <p:spPr>
          <a:xfrm>
            <a:off x="8915400" y="2578608"/>
            <a:ext cx="1234440" cy="512064"/>
          </a:xfrm>
          <a:prstGeom prst="roundRect">
            <a:avLst>
              <a:gd name="adj" fmla="val 6250"/>
            </a:avLst>
          </a:prstGeom>
          <a:solidFill>
            <a:srgbClr val="F2F6FB"/>
          </a:solidFill>
          <a:ln w="12700">
            <a:solidFill>
              <a:srgbClr val="0E23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88552" y="266090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DB 저장</a:t>
            </a: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8988552" y="2862072"/>
            <a:ext cx="10881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Project·Binding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3977640" y="3767328"/>
            <a:ext cx="1234440" cy="512064"/>
          </a:xfrm>
          <a:prstGeom prst="roundRect">
            <a:avLst>
              <a:gd name="adj" fmla="val 6250"/>
            </a:avLst>
          </a:prstGeom>
          <a:solidFill>
            <a:srgbClr val="E9FBF8"/>
          </a:solidFill>
          <a:ln w="12700">
            <a:solidFill>
              <a:srgbClr val="16A8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50792" y="384962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 4</a:t>
            </a:r>
            <a:endParaRPr lang="en-US" sz="690" dirty="0"/>
          </a:p>
        </p:txBody>
      </p:sp>
      <p:sp>
        <p:nvSpPr>
          <p:cNvPr id="40" name="Text 38"/>
          <p:cNvSpPr/>
          <p:nvPr/>
        </p:nvSpPr>
        <p:spPr>
          <a:xfrm>
            <a:off x="4050792" y="4050792"/>
            <a:ext cx="10881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4~6개 구성 반환</a:t>
            </a:r>
            <a:endParaRPr lang="en-US" sz="580" dirty="0"/>
          </a:p>
        </p:txBody>
      </p:sp>
      <p:sp>
        <p:nvSpPr>
          <p:cNvPr id="41" name="Shape 39"/>
          <p:cNvSpPr/>
          <p:nvPr/>
        </p:nvSpPr>
        <p:spPr>
          <a:xfrm>
            <a:off x="7269480" y="3767328"/>
            <a:ext cx="1234440" cy="512064"/>
          </a:xfrm>
          <a:prstGeom prst="roundRect">
            <a:avLst>
              <a:gd name="adj" fmla="val 6250"/>
            </a:avLst>
          </a:prstGeom>
          <a:solidFill>
            <a:srgbClr val="E9FBF8"/>
          </a:solidFill>
          <a:ln w="12700">
            <a:solidFill>
              <a:srgbClr val="16A8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42632" y="384962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API</a:t>
            </a:r>
            <a:endParaRPr lang="en-US" sz="690" dirty="0"/>
          </a:p>
        </p:txBody>
      </p:sp>
      <p:sp>
        <p:nvSpPr>
          <p:cNvPr id="43" name="Text 41"/>
          <p:cNvSpPr/>
          <p:nvPr/>
        </p:nvSpPr>
        <p:spPr>
          <a:xfrm>
            <a:off x="7342632" y="4050792"/>
            <a:ext cx="10881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equipment/status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8915400" y="3767328"/>
            <a:ext cx="1234440" cy="512064"/>
          </a:xfrm>
          <a:prstGeom prst="roundRect">
            <a:avLst>
              <a:gd name="adj" fmla="val 6250"/>
            </a:avLst>
          </a:prstGeom>
          <a:solidFill>
            <a:srgbClr val="E9FBF8"/>
          </a:solidFill>
          <a:ln w="12700">
            <a:solidFill>
              <a:srgbClr val="16A8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88552" y="384962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DataBinding</a:t>
            </a:r>
            <a:endParaRPr lang="en-US" sz="690" dirty="0"/>
          </a:p>
        </p:txBody>
      </p:sp>
      <p:sp>
        <p:nvSpPr>
          <p:cNvPr id="46" name="Text 44"/>
          <p:cNvSpPr/>
          <p:nvPr/>
        </p:nvSpPr>
        <p:spPr>
          <a:xfrm>
            <a:off x="8988552" y="4050792"/>
            <a:ext cx="10881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sourceId+field</a:t>
            </a:r>
            <a:endParaRPr lang="en-US" sz="580" dirty="0"/>
          </a:p>
        </p:txBody>
      </p:sp>
      <p:sp>
        <p:nvSpPr>
          <p:cNvPr id="47" name="Shape 45"/>
          <p:cNvSpPr/>
          <p:nvPr/>
        </p:nvSpPr>
        <p:spPr>
          <a:xfrm>
            <a:off x="530352" y="4892040"/>
            <a:ext cx="11045952" cy="868680"/>
          </a:xfrm>
          <a:prstGeom prst="roundRect">
            <a:avLst>
              <a:gd name="adj" fmla="val 2105"/>
            </a:avLst>
          </a:prstGeom>
          <a:solidFill>
            <a:srgbClr val="EAF3FF"/>
          </a:solidFill>
          <a:ln w="10160">
            <a:solidFill>
              <a:srgbClr val="D6E8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" y="518464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호출 기준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2057400" y="5184648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프론트는 sourceId만 전달하고, 실제 endpoint·인증정보는 백엔드 서버에서 관리합니다. 위젯 바인딩과 AiAction 로그는 서버 DB에 저장합니다.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2057400" y="5449824"/>
            <a:ext cx="8869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자동 생성은 4~6개, Gemma 제작 가능 유형은 10종, 직접 드래그 가능한 기존 20종 라이브러리는 유지합니다.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진행 방식과 검수 기준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6단계로 핵심 기술을 순차 구현하고, 폐쇄망 E2E 3회 반복으로 완료 여부를 판단합니다.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442448" y="393192"/>
            <a:ext cx="1234440" cy="237744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61320" y="44805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AIMNIS POC</a:t>
            </a:r>
            <a:endParaRPr lang="en-US" sz="640" dirty="0"/>
          </a:p>
        </p:txBody>
      </p:sp>
      <p:sp>
        <p:nvSpPr>
          <p:cNvPr id="6" name="Text 4"/>
          <p:cNvSpPr/>
          <p:nvPr/>
        </p:nvSpPr>
        <p:spPr>
          <a:xfrm>
            <a:off x="530352" y="656539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8EA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AIMNIS 1차 POC 범위 공유  |  5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5961888" y="656539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325880"/>
            <a:ext cx="162763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408176"/>
            <a:ext cx="1536192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0352" y="1664208"/>
            <a:ext cx="1627632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653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PGX·Gemma 4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94944" y="21671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추론 API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Check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194560" y="2039112"/>
            <a:ext cx="128016" cy="0"/>
          </a:xfrm>
          <a:prstGeom prst="line">
            <a:avLst/>
          </a:prstGeom>
          <a:noFill/>
          <a:ln w="12700">
            <a:solidFill>
              <a:srgbClr val="8EA0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59152" y="1325880"/>
            <a:ext cx="162763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1408176"/>
            <a:ext cx="1536192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59152" y="1664208"/>
            <a:ext cx="1627632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18653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DB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523744" y="21671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Project·Spec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Widget 저장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023360" y="2039112"/>
            <a:ext cx="128016" cy="0"/>
          </a:xfrm>
          <a:prstGeom prst="line">
            <a:avLst/>
          </a:prstGeom>
          <a:noFill/>
          <a:ln w="12700">
            <a:solidFill>
              <a:srgbClr val="8EA0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87952" y="1325880"/>
            <a:ext cx="162763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33672" y="1408176"/>
            <a:ext cx="1536192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87952" y="1664208"/>
            <a:ext cx="1627632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18653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더미 데이터 API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352544" y="21671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DataSource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확인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852160" y="2039112"/>
            <a:ext cx="128016" cy="0"/>
          </a:xfrm>
          <a:prstGeom prst="line">
            <a:avLst/>
          </a:prstGeom>
          <a:noFill/>
          <a:ln w="12700">
            <a:solidFill>
              <a:srgbClr val="8EA0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16752" y="1325880"/>
            <a:ext cx="1627632" cy="274320"/>
          </a:xfrm>
          <a:prstGeom prst="rect">
            <a:avLst/>
          </a:prstGeom>
          <a:solidFill>
            <a:srgbClr val="16A85B"/>
          </a:solidFill>
          <a:ln w="12700">
            <a:solidFill>
              <a:srgbClr val="16A8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1408176"/>
            <a:ext cx="1536192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16752" y="1664208"/>
            <a:ext cx="1627632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18653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 기반 생성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181344" y="21671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위젯 4~6개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에디터 반영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680960" y="2039112"/>
            <a:ext cx="128016" cy="0"/>
          </a:xfrm>
          <a:prstGeom prst="line">
            <a:avLst/>
          </a:prstGeom>
          <a:noFill/>
          <a:ln w="12700">
            <a:solidFill>
              <a:srgbClr val="8EA0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845552" y="1325880"/>
            <a:ext cx="1627632" cy="274320"/>
          </a:xfrm>
          <a:prstGeom prst="rect">
            <a:avLst/>
          </a:prstGeom>
          <a:solidFill>
            <a:srgbClr val="16A85B"/>
          </a:solidFill>
          <a:ln w="12700">
            <a:solidFill>
              <a:srgbClr val="16A8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91272" y="1408176"/>
            <a:ext cx="1536192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845552" y="1664208"/>
            <a:ext cx="1627632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73568" y="18653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채팅·바인딩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010144" y="21671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10종 위젯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연결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509760" y="2039112"/>
            <a:ext cx="128016" cy="0"/>
          </a:xfrm>
          <a:prstGeom prst="line">
            <a:avLst/>
          </a:prstGeom>
          <a:noFill/>
          <a:ln w="12700">
            <a:solidFill>
              <a:srgbClr val="8EA0B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74352" y="1325880"/>
            <a:ext cx="162763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20072" y="1408176"/>
            <a:ext cx="1536192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674352" y="1664208"/>
            <a:ext cx="1627632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02368" y="18653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안정화·검수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9838944" y="21671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폐쇄망·초기화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0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반복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30352" y="3154680"/>
            <a:ext cx="5394960" cy="17373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" y="34198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검수 기준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04672" y="3712464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Gemma 4 외부 LLM 없이 Tool Call 반환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10종 위젯 각각 최소 1회 생성·수정 검수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초기 대시보드 위젯 4~6개 자동 생성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sourceId 기반 백엔드 데이터 조회·바인딩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서버 DB 저장 후 다른 세션 복원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6172200" y="3154680"/>
            <a:ext cx="5394960" cy="17373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0160">
            <a:solidFill>
              <a:srgbClr val="DDE6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341985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2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전 확정·준비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46520" y="3712464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ThinkStation PGX 견적·사양 확인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Gemma 4 26B A4B 후보 벤치마크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내부 데이터 소스 3종 시드 준비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DataTableWidget 경량 신규 구현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A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POC 통합 초기화 버튼 제공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530352" y="5257800"/>
            <a:ext cx="11045952" cy="594360"/>
          </a:xfrm>
          <a:prstGeom prst="roundRect">
            <a:avLst>
              <a:gd name="adj" fmla="val 3077"/>
            </a:avLst>
          </a:prstGeom>
          <a:solidFill>
            <a:srgbClr val="0E2345"/>
          </a:solidFill>
          <a:ln w="10160">
            <a:solidFill>
              <a:srgbClr val="0E23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" y="5468112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4C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후 진행안</a:t>
            </a:r>
            <a:endParaRPr lang="en-US" sz="830" dirty="0"/>
          </a:p>
        </p:txBody>
      </p:sp>
      <p:sp>
        <p:nvSpPr>
          <p:cNvPr id="51" name="Text 49"/>
          <p:cNvSpPr/>
          <p:nvPr/>
        </p:nvSpPr>
        <p:spPr>
          <a:xfrm>
            <a:off x="2011680" y="5468112"/>
            <a:ext cx="8961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구현·검수 정의서를 v1.0으로 고정 → 개발자 구현 확인 메모 작성 → 1단계 PGX·Gemma 4 구동 검증부터 착수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530352" y="5989320"/>
            <a:ext cx="11045952" cy="310896"/>
          </a:xfrm>
          <a:prstGeom prst="roundRect">
            <a:avLst>
              <a:gd name="adj" fmla="val 5882"/>
            </a:avLst>
          </a:prstGeom>
          <a:solidFill>
            <a:srgbClr val="FFF7ED"/>
          </a:solidFill>
          <a:ln w="10160">
            <a:solidFill>
              <a:srgbClr val="FFE2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6384" y="6089904"/>
            <a:ext cx="10424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7A4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실증·제품화 범위: 실제 발전소 데이터, 운영 분석 채팅, 전체 위젯·페이지 기능화, 권한·협업·배포·운영 안정화는 별도 로드맵으로 관리합니다.</a:t>
            </a:r>
            <a:endParaRPr lang="en-US" sz="7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AIMWID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AIMNIS 1차 POC 범위 공유</dc:title>
  <dc:subject>AIMNIS 1차 POC 범위 및 구현·검수 정의서 공유</dc:subject>
  <dc:creator>OpenAI</dc:creator>
  <cp:lastModifiedBy>OpenAI</cp:lastModifiedBy>
  <cp:revision>1</cp:revision>
  <dcterms:created xsi:type="dcterms:W3CDTF">2026-07-15T07:55:26Z</dcterms:created>
  <dcterms:modified xsi:type="dcterms:W3CDTF">2026-07-15T07:55:26Z</dcterms:modified>
</cp:coreProperties>
</file>